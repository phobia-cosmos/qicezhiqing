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185ef9877c84af1" Type="http://schemas.openxmlformats.org/officeDocument/2006/relationships/officeDocument" Target="ppt/presentation.xml"/><Relationship Id="Rb5e3458bcabf48a6" Type="http://schemas.openxmlformats.org/package/2006/relationships/metadata/core-properties" Target="docProps/core.xml"/><Relationship Id="Rcb63752665904df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a42c8c5a8042ab"/>
  </p:sldMasterIdLst>
  <p:notesMasterIdLst>
    <p:notesMasterId xmlns:r="http://schemas.openxmlformats.org/officeDocument/2006/relationships" r:id="R5c42b8824429408f"/>
  </p:notesMasterIdLst>
  <p:sldIdLst>
    <p:sldId xmlns:r="http://schemas.openxmlformats.org/officeDocument/2006/relationships" id="256" r:id="R76ff65f542a343a4"/>
    <p:sldId xmlns:r="http://schemas.openxmlformats.org/officeDocument/2006/relationships" id="257" r:id="R4a8265bcc5eb4c6a"/>
    <p:sldId xmlns:r="http://schemas.openxmlformats.org/officeDocument/2006/relationships" id="258" r:id="R36d6ae856cb24718"/>
    <p:sldId xmlns:r="http://schemas.openxmlformats.org/officeDocument/2006/relationships" id="259" r:id="R73dd39cb153640dd"/>
    <p:sldId xmlns:r="http://schemas.openxmlformats.org/officeDocument/2006/relationships" id="260" r:id="R25a78d9c0bb845df"/>
    <p:sldId xmlns:r="http://schemas.openxmlformats.org/officeDocument/2006/relationships" id="261" r:id="R191c615ebcb5420e"/>
    <p:sldId xmlns:r="http://schemas.openxmlformats.org/officeDocument/2006/relationships" id="262" r:id="Rd5ea5a7a87f34f21"/>
    <p:sldId xmlns:r="http://schemas.openxmlformats.org/officeDocument/2006/relationships" id="263" r:id="Re2b74f6d75a54a27"/>
    <p:sldId xmlns:r="http://schemas.openxmlformats.org/officeDocument/2006/relationships" id="264" r:id="Rad854361c1a34aa6"/>
    <p:sldId xmlns:r="http://schemas.openxmlformats.org/officeDocument/2006/relationships" id="265" r:id="R7cee875f21e9483a"/>
    <p:sldId xmlns:r="http://schemas.openxmlformats.org/officeDocument/2006/relationships" id="266" r:id="R9209777e75904573"/>
    <p:sldId xmlns:r="http://schemas.openxmlformats.org/officeDocument/2006/relationships" id="267" r:id="Rb78686e3c87d43aa"/>
    <p:sldId xmlns:r="http://schemas.openxmlformats.org/officeDocument/2006/relationships" id="268" r:id="R44428f1146b44dba"/>
    <p:sldId xmlns:r="http://schemas.openxmlformats.org/officeDocument/2006/relationships" id="269" r:id="R1ad5a3ba8ef34cb2"/>
    <p:sldId xmlns:r="http://schemas.openxmlformats.org/officeDocument/2006/relationships" id="270" r:id="R638abb5ff93349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91c615ebcb5420e" Type="http://schemas.openxmlformats.org/officeDocument/2006/relationships/slide" Target="slides/slide6.xml"/><Relationship Id="R1ad5a3ba8ef34cb2" Type="http://schemas.openxmlformats.org/officeDocument/2006/relationships/slide" Target="slides/slide14.xml"/><Relationship Id="R25a78d9c0bb845df" Type="http://schemas.openxmlformats.org/officeDocument/2006/relationships/slide" Target="slides/slide5.xml"/><Relationship Id="R28662d311656437f" Type="http://schemas.openxmlformats.org/officeDocument/2006/relationships/theme" Target="theme/theme1.xml"/><Relationship Id="R36d6ae856cb24718" Type="http://schemas.openxmlformats.org/officeDocument/2006/relationships/slide" Target="slides/slide3.xml"/><Relationship Id="R44428f1146b44dba" Type="http://schemas.openxmlformats.org/officeDocument/2006/relationships/slide" Target="slides/slide13.xml"/><Relationship Id="R4a8265bcc5eb4c6a" Type="http://schemas.openxmlformats.org/officeDocument/2006/relationships/slide" Target="slides/slide2.xml"/><Relationship Id="R5c42b8824429408f" Type="http://schemas.openxmlformats.org/officeDocument/2006/relationships/notesMaster" Target="notesMasters/notesMaster1.xml"/><Relationship Id="R638abb5ff933490c" Type="http://schemas.openxmlformats.org/officeDocument/2006/relationships/slide" Target="slides/slide15.xml"/><Relationship Id="R73dd39cb153640dd" Type="http://schemas.openxmlformats.org/officeDocument/2006/relationships/slide" Target="slides/slide4.xml"/><Relationship Id="R76ff65f542a343a4" Type="http://schemas.openxmlformats.org/officeDocument/2006/relationships/slide" Target="slides/slide1.xml"/><Relationship Id="R7cee875f21e9483a" Type="http://schemas.openxmlformats.org/officeDocument/2006/relationships/slide" Target="slides/slide10.xml"/><Relationship Id="R9209777e75904573" Type="http://schemas.openxmlformats.org/officeDocument/2006/relationships/slide" Target="slides/slide11.xml"/><Relationship Id="Rad854361c1a34aa6" Type="http://schemas.openxmlformats.org/officeDocument/2006/relationships/slide" Target="slides/slide9.xml"/><Relationship Id="Rb262755f627240af" Type="http://schemas.openxmlformats.org/officeDocument/2006/relationships/presProps" Target="presProps.xml"/><Relationship Id="Rb31b46e11a704601" Type="http://schemas.openxmlformats.org/officeDocument/2006/relationships/tableStyles" Target="tableStyles.xml"/><Relationship Id="Rb4a42c8c5a8042ab" Type="http://schemas.openxmlformats.org/officeDocument/2006/relationships/slideMaster" Target="slideMasters/slideMaster1.xml"/><Relationship Id="Rb78686e3c87d43aa" Type="http://schemas.openxmlformats.org/officeDocument/2006/relationships/slide" Target="slides/slide12.xml"/><Relationship Id="Rd5ea5a7a87f34f21" Type="http://schemas.openxmlformats.org/officeDocument/2006/relationships/slide" Target="slides/slide7.xml"/><Relationship Id="Re2b74f6d75a54a2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fdd90afeefaf4eb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36eac8a3b44495a" Type="http://schemas.openxmlformats.org/officeDocument/2006/relationships/slide" Target="../slides/slide1.xml"/><Relationship Id="Rb7ad13ad566b4e7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2719943864c4478" Type="http://schemas.openxmlformats.org/officeDocument/2006/relationships/slide" Target="../slides/slide2.xml"/><Relationship Id="R6ae5a3042d754a6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3b527510daa4ef4" Type="http://schemas.openxmlformats.org/officeDocument/2006/relationships/slide" Target="../slides/slide3.xml"/><Relationship Id="Rc36a434348474d0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b3a6c3b68f2449ad" Type="http://schemas.openxmlformats.org/officeDocument/2006/relationships/notesMaster" Target="../notesMasters/notesMaster1.xml"/><Relationship Id="Rd9f3f506af5a4f1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650011d426b42ba" Type="http://schemas.openxmlformats.org/officeDocument/2006/relationships/notesMaster" Target="../notesMasters/notesMaster1.xml"/><Relationship Id="Rd4f4d7e5ab60496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9aa199d9af94a45" Type="http://schemas.openxmlformats.org/officeDocument/2006/relationships/notesMaster" Target="../notesMasters/notesMaster1.xml"/><Relationship Id="Re713ede453ff49bb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b48c27a657b042ff" Type="http://schemas.openxmlformats.org/officeDocument/2006/relationships/notesMaster" Target="../notesMasters/notesMaster1.xml"/><Relationship Id="Re4adb135b5d14f4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2e60ac56e094d28" Type="http://schemas.openxmlformats.org/officeDocument/2006/relationships/slide" Target="../slides/slide8.xml"/><Relationship Id="R91d0f6ee6b1e483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dc30a865c764dc5" Type="http://schemas.openxmlformats.org/officeDocument/2006/relationships/slide" Target="../slides/slide9.xml"/><Relationship Id="R3b9695664ace4e0d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977a5eb1066a402a" Type="http://schemas.openxmlformats.org/officeDocument/2006/relationships/slide" Target="../slides/slide10.xml"/><Relationship Id="Rfe8c5ba20cbd4c5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046de2769e94dce" Type="http://schemas.openxmlformats.org/officeDocument/2006/relationships/notesMaster" Target="../notesMasters/notesMaster1.xml"/><Relationship Id="Rb89261bafd1f4cc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e055e4885214499" Type="http://schemas.openxmlformats.org/officeDocument/2006/relationships/notesMaster" Target="../notesMasters/notesMaster1.xml"/><Relationship Id="Rda93b9581e0f4a5a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b9ad5582ee364bc8" Type="http://schemas.openxmlformats.org/officeDocument/2006/relationships/slide" Target="../slides/slide13.xml"/><Relationship Id="Reed8d25f601e409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454a264e3a694f42" Type="http://schemas.openxmlformats.org/officeDocument/2006/relationships/slide" Target="../slides/slide14.xml"/><Relationship Id="Rfc9f87ab433242e0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c7d6648ea956414e" Type="http://schemas.openxmlformats.org/officeDocument/2006/relationships/slide" Target="../slides/slide15.xml"/><Relationship Id="Re6e901b30e5f49c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开场说明：GoAI 是代码仓库名称，产品名称为“企业经营决策 Agent”。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用一页说明项目是什么、边界在哪里，以及为什么它值得信任。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https://github.com/Phobia-Cosmos/GoAI/blob/main/README.md</a:t>
            </a:r>
          </a:p>
          <a:p xmlns:a="http://schemas.openxmlformats.org/drawingml/2006/main">
            <a:r>
              <a:t>- https://github.com/Phobia-Cosmos/GoAI/blob/main/docs/PROJECT_STATUS_AND_AGENT_PLAN.md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目录按照项目背景、解决方案、技术架构、应用价值、团队和开源计划展开。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说明产销财之间的跨期依赖，以及为什么局部表格难以支撑统一经营判断。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https://github.com/Phobia-Cosmos/GoAI/blob/main/docs/PROJECT_STATUS_AND_AGENT_PLAN.md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将仓库中的可信边界、单一状态真值和滚动规划约束转换为企业经营问题。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https://github.com/Phobia-Cosmos/GoAI/blob/main/README.md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- https://github.com/Phobia-Cosmos/GoAI/blob/main/docs/OWNED_ENTERPRISE_AGENT_SYSTEM.md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强调同一经营快照、方案分支推演、人工审批和执行反馈闭环。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- https://github.com/Phobia-Cosmos/GoAI/blob/main/docs/PROJECT_STATUS_AND_AGENT_PLAN.md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架构核心是共享业务规则、标准事件与企业经营状态；LLM 只作为可选交互和解释层。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- https://github.com/Phobia-Cosmos/GoAI/blob/main/README.md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五个创新点均由仓库现有可信边界、状态机、滚动规划和人工确认设计转化而来。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https://github.com/Phobia-Cosmos/GoAI/blob/main/README.md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- https://github.com/Phobia-Cosmos/GoAI/blob/main/docs/OWNED_ENTERPRISE_AGENT_SYSTEM.md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本页展示企业应用设计，不表示已接入具体企业生产系统。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- https://github.com/Phobia-Cosmos/GoAI/blob/main/docs/PROJECT_STATUS_AND_AGENT_PLAN.md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能力描述来自仓库源码、项目状态文档和测试目录；企业接入与生产验证属于后续工作。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https://github.com/Phobia-Cosmos/GoAI/blob/main/README.md</a:t>
            </a:r>
          </a:p>
          <a:p xmlns:a="http://schemas.openxmlformats.org/drawingml/2006/main">
            <a:r>
              <a:t>- https://github.com/Phobia-Cosmos/GoAI/blob/main/docs/PROJECT_STATUS_AND_AGENT_PLAN.md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企业价值由系统现有经营要素和状态内核推导，仍需通过真实行业数据与试点项目验证。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- https://github.com/Phobia-Cosmos/GoAI/blob/main/docs/PROJECT_STATUS_AND_AGENT_PLAN.md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推进路径属于项目组拟开展工作，当前尚未声称完成真实企业生产部署。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https://github.com/Phobia-Cosmos/GoAI/blob/main/docs/SYSTEM_ARCHITECTURE.md</a:t>
            </a:r>
          </a:p>
          <a:p xmlns:a="http://schemas.openxmlformats.org/drawingml/2006/main">
            <a:r>
              <a:t>- https://github.com/Phobia-Cosmos/GoAI/blob/main/docs/PROJECT_STATUS_AND_AGENT_PLAN.md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团队分工按当前提交需要进行合理编排，可根据成员真实专长在提交前微调。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开源计划基于当前公开仓库结构拟定；许可证状态需在正式提交前再次确认。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</a:t>
            </a:r>
          </a:p>
          <a:p xmlns:a="http://schemas.openxmlformats.org/drawingml/2006/main">
            <a:r>
              <a:t>- https://github.com/Phobia-Cosmos/GoAI/blob/main/README.md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收束项目价值：可信状态、可比方案、可见风险和可追溯决策。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https://github.com/Phobia-Cosmos/GoAI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523133f2f4f4dc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557a0b13a474fa1" Type="http://schemas.openxmlformats.org/officeDocument/2006/relationships/slideLayout" Target="../slideLayouts/slideLayout1.xml"/><Relationship Id="Rd605aa8dd807475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57a0b13a474f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4f331b80e4d4073" Type="http://schemas.openxmlformats.org/officeDocument/2006/relationships/image" Target="../media/image.png"/><Relationship Id="R923b179983f64adf" Type="http://schemas.openxmlformats.org/officeDocument/2006/relationships/notesSlide" Target="../notesSlides/notesSlide1.xml"/><Relationship Id="Raa0654032fbd4aa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dfd859fee234c3e" Type="http://schemas.openxmlformats.org/officeDocument/2006/relationships/notesSlide" Target="../notesSlides/notesSlide2.xml"/><Relationship Id="R1e5ed68f783b4e1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2f5daa56a574737" Type="http://schemas.openxmlformats.org/officeDocument/2006/relationships/slideLayout" Target="../slideLayouts/slideLayout1.xml"/><Relationship Id="Rcbf36105276b487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4f4432f03984fe2" Type="http://schemas.openxmlformats.org/officeDocument/2006/relationships/slideLayout" Target="../slideLayouts/slideLayout1.xml"/><Relationship Id="R279621e6b5d9480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9ed579d173a4487" Type="http://schemas.openxmlformats.org/officeDocument/2006/relationships/notesSlide" Target="../notesSlides/notesSlide5.xml"/><Relationship Id="R58908f9994cf4a0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4b864445d9740ab" Type="http://schemas.openxmlformats.org/officeDocument/2006/relationships/notesSlide" Target="../notesSlides/notesSlide6.xml"/><Relationship Id="R940064ec59ab4b0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7976822446be4559" Type="http://schemas.openxmlformats.org/officeDocument/2006/relationships/slideLayout" Target="../slideLayouts/slideLayout1.xml"/><Relationship Id="Rbbf50826cfac4b0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878c04104ae46b0" Type="http://schemas.openxmlformats.org/officeDocument/2006/relationships/slideLayout" Target="../slideLayouts/slideLayout1.xml"/><Relationship Id="Rdca53d8690f341a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f172149dbe944be" Type="http://schemas.openxmlformats.org/officeDocument/2006/relationships/notesSlide" Target="../notesSlides/notesSlide9.xml"/><Relationship Id="Rf020e36d8b06478b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205904da0144f9a" Type="http://schemas.openxmlformats.org/officeDocument/2006/relationships/slideLayout" Target="../slideLayouts/slideLayout1.xml"/><Relationship Id="R8ce3795c3cb6498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405c55b1efc47f6" Type="http://schemas.openxmlformats.org/officeDocument/2006/relationships/notesSlide" Target="../notesSlides/notesSlide11.xml"/><Relationship Id="Rb6d0ca3d465945e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69fa9a6a03c7483c" Type="http://schemas.openxmlformats.org/officeDocument/2006/relationships/notesSlide" Target="../notesSlides/notesSlide12.xml"/><Relationship Id="R99f2498a67794eae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ba9649003294248" Type="http://schemas.openxmlformats.org/officeDocument/2006/relationships/notesSlide" Target="../notesSlides/notesSlide13.xml"/><Relationship Id="Rfc42a7c0a498430d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9fb08e56f5a4a9a" Type="http://schemas.openxmlformats.org/officeDocument/2006/relationships/notesSlide" Target="../notesSlides/notesSlide14.xml"/><Relationship Id="R4e5fcba4ac60431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782bb93a28b46c6" Type="http://schemas.openxmlformats.org/officeDocument/2006/relationships/slideLayout" Target="../slideLayouts/slideLayout1.xml"/><Relationship Id="R9af6bf60bc264852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331b80e4d40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BAAFE-86AD-4850-8749-1003F19A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222"/>
              </a:gs>
              <a:gs pos="70000">
                <a:srgbClr val="061222">
                  <a:alpha val="92000"/>
                </a:srgbClr>
              </a:gs>
              <a:gs pos="100000">
                <a:srgbClr val="061222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6670E-F400-478B-B4EF-F01450C8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企策智擎 · 初赛提交材料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2B678B9-B090-4ED2-AA8C-7C53A67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企策智擎</a:t>
            </a:r>
          </a:p>
          <a:p xmlns:a="http://schemas.openxmlformats.org/drawingml/2006/main">
            <a:r>
              <a:t>决策智能体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2E10C-65FC-42BB-A2D2-EF500E3A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FE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FEAFF"/>
                </a:solidFill>
                <a:latin typeface="Microsoft YaHei"/>
                <a:ea typeface="Microsoft YaHei"/>
                <a:cs typeface="Microsoft YaHei"/>
              </a:rPr>
              <a:t>面向制造型企业的经营计划推演与风险校验系统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B4F17-2363-451E-8DC8-650AFD87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5BF9C-9D46-40C3-8C4A-88D39D26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D7E2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2F0"/>
                </a:solidFill>
                <a:latin typeface="Microsoft YaHei"/>
                <a:ea typeface="Microsoft YaHei"/>
                <a:cs typeface="Microsoft YaHei"/>
              </a:rPr>
              <a:t>把订单、产能、库存与资金放进同一经营模型，在执行前比较方案并识别风险。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BECE6-9639-4762-B62B-6FADAEA7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8FA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A6BE"/>
                </a:solidFill>
                <a:latin typeface="Microsoft YaHei"/>
                <a:ea typeface="Microsoft YaHei"/>
                <a:cs typeface="Microsoft YaHei"/>
              </a:rPr>
              <a:t>项目团队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AADF3-EBA7-46D5-8DAC-3CF9618C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叶航飞  ·  刘子豪  ·  陈一敬</a:t>
            </a:r>
          </a:p>
        </p:txBody>
      </p:sp>
    </p:spTree>
    <p:extLst>
      <p:ext uri="{BB962C8B-B14F-4D97-AF65-F5344CB8AC3E}">
        <p14:creationId xmlns:p14="http://schemas.microsoft.com/office/powerpoint/2010/main" val="2020465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92A7B-9555-4BFA-8A89-90580547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项目摘要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0380C-F7E8-4D95-AA70-B6C20D4F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7302A52-0CBC-443B-B2E3-9050032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让经营计划在执行前经过统一计算、方案比较和风险复核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35EDE-8EF0-4E01-A185-DE813C34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9B93B-DE58-4FB6-9C25-D866F83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52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74"/>
          </a:bodyPr>
          <a:lstStyle xmlns:a="http://schemas.openxmlformats.org/drawingml/2006/main"/>
          <a:p xmlns:a="http://schemas.openxmlformats.org/drawingml/2006/main">
            <a:r>
              <a:t>企策智擎决策智能体 面向订单驱动的制造型企业。系统汇集订单、库存、BOM、产能、采购、资金和历史经营数据，重建统一经营状态，生成多套月度或季度经营方案，计算其对现金、库存、产能利用、融资压力、订单履约和财务结果的影响，并向管理者提供推荐计划、备选情景与风险说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D446B-DD98-422A-AA43-B5D40292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381250" cy="2876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2C5BC-DFDE-419F-86C2-A23B9C74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核心边界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CFB22-9A63-4BF8-9203-83A48D56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规则引擎负责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计算与合法性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FB5DC-F21F-4FBF-B959-5D59B7F1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9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6B86B-FF97-4DE3-8C6B-D8520594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8D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7E8"/>
                </a:solidFill>
                <a:latin typeface="Microsoft YaHei"/>
                <a:ea typeface="Microsoft YaHei"/>
                <a:cs typeface="Microsoft YaHei"/>
              </a:rPr>
              <a:t>大模型只用于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8D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7E8"/>
                </a:solidFill>
                <a:latin typeface="Microsoft YaHei"/>
                <a:ea typeface="Microsoft YaHei"/>
                <a:cs typeface="Microsoft YaHei"/>
              </a:rPr>
              <a:t>规划表达与解释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AE7C3-DB1E-4C1C-B2B2-66966DA6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2D33E-8D1E-43D8-907A-14725FAB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B3258-9837-4A72-BCE2-B27F5C77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订单、库存、产能、资金和报表由同一经营内核维护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A677B-D100-4D82-AD0E-475712E7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2F69E-D9FF-4515-914F-6FA5C481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比较方案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B1F32-1B7D-490A-B14D-775424DB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稳健、平衡和增长方案在相同约束下进行推演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A56E8-9B95-4869-AB2E-43E80E29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393C6-DD6B-493C-B3D8-5A631D42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区分来源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155D9-062D-4E28-BA0F-39EDC6A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明确区分业务记录、计算结果、估计信息和模拟结果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E358B-9689-472B-941B-29A0045A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CD637-700B-4FC8-9B6D-E102D796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00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FDC22-D863-421F-B900-D035459A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24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系统给出建议和风险，最终方案由管理者审定</a:t>
            </a:r>
          </a:p>
        </p:txBody>
      </p:sp>
    </p:spTree>
    <p:extLst>
      <p:ext uri="{BB962C8B-B14F-4D97-AF65-F5344CB8AC3E}">
        <p14:creationId xmlns:p14="http://schemas.microsoft.com/office/powerpoint/2010/main" val="1406199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CF925-08F1-49D9-A1FF-E6541B5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F63A5-F28C-4524-A94A-C93017C0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90A6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0A6C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91D1769-2D79-4918-B202-0C3367CE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围绕企业经营计划，说明问题、方案、架构与落地路径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115D1-738E-4D1C-9108-9A5650D3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31A2E-3F8C-4F6E-8F8F-DB696922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E4776-03E1-457F-AD71-6FDFEE64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43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91284-9D28-48BE-9129-A4BE209B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rPr>
              <a:t>企业经营计划为什么容易在跨部门协同中失真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7C9E5-E1B5-425B-B4D5-086EDDB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0E65A-E619-4CF6-A3B3-0FA810E7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D3C79-0DF8-4753-BF8B-A58902B4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C2158-515E-4E9D-9E7E-8F52C14E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812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rPr>
              <a:t>如何把数据、经营模型、方案推演和审批连成闭环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A1608-3B00-4860-B3F1-3C7D065E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CDEE7-6C91-4A03-BD16-F436DEA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797E6-92E7-43E0-AF0E-D5A948CD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技术架构与创新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96F76-2ADB-450C-87BB-B98CB8AA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908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rPr>
              <a:t>确定性内核、来源分级和可审计反事实推演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FBEAD-B1BC-483B-82EE-8E0F3A20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B687A-A53F-4443-980D-664AC90E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18805-8860-4ED6-8804-96C76D89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可点击平台与每场规则生成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44F12-7526-41D4-8592-45C2EF96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004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rPr>
              <a:t>典型业务场景、原型能力和验证边界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4D2E3-F440-4747-A181-2A98209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F1C88-5A83-4334-872B-B13EEAD6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111D1-FD10-47CE-91C9-DA8D4A0A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81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企业应用价值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207E9-BF71-4248-9490-73473D62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00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rPr>
              <a:t>系统如何支持产销协同、预算和风险管理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D962D-4139-4543-913F-5FBEDC6A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3E396-4EBD-4022-9AD4-B6C232F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2F41B-242E-4636-8F7D-1ED29C50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推进与优化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A011C-3443-4AB1-B2AD-04624668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196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rPr>
              <a:t>数据接入、行业适配、试点验证和系统集成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E3340-B85E-4799-B921-EF70D3C0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F68B1-4BCD-4431-BAE8-32C5CADF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664E0-BE34-444B-AE40-FD54D43D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00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团队与开源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8F3D0-6386-48A0-803C-2ADC9297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292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6B8CD"/>
                </a:solidFill>
                <a:latin typeface="Microsoft YaHei"/>
                <a:ea typeface="Microsoft YaHei"/>
                <a:cs typeface="Microsoft YaHei"/>
              </a:rPr>
              <a:t>三人协作、版本治理和社区共建路线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C0CE46-DB91-455F-B875-E32E00A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292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5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140605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1CAE82-58FE-46D9-8300-57D29B09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 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FA4A5-9A52-429E-88E1-2B3CDFA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73F8731-A394-4B1D-9DA3-3CB427E8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企业经营计划的难点不是单点预测，而是跨部门联动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025F8-25B4-429D-9880-7DF89E4E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345D-D8F5-4B11-945D-C749472A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14575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D6653-68AB-4F3E-BC97-E54128F8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A231F-3609-4E7D-BDD6-108CF464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5A20E-2E65-4CD1-83C7-3C41A7A8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50163-77FC-4F3A-AB65-792B860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14575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D386A-17D8-4AC2-A2DE-A7762B40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EACD5-0270-4BB2-BA4E-BC9CCDE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14575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6E07F-86E7-43E9-846F-5D4D939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671FC-3A44-4363-BFEE-A60FD36D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14575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88DBD-C4D3-4A2F-BCE1-9E89FC19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77562-E5D9-4149-979E-EA45245A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14575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537AA-7198-445D-B517-3F4D1759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D6FFB-0ADF-45EB-8401-EB796D1C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0EDF5-6204-4997-B057-CF4711C5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3CB68-8744-425E-BC87-B30725A1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B573C-3488-4F26-A343-AD9F4076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52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C88D1-CB4A-489B-8AE0-D96678D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05025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8D284-9775-4904-BECC-465D2A99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24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37C27-6B1F-4BA6-B705-9EC7CE63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AD6EA-CDF1-46BB-8CCA-92616A40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05025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A8B44-1FE4-471D-B5B7-8F34F09A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24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3D2E3-6F1C-4C35-96B1-A212B8CE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52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2A02F-B799-4D07-87A0-7E6D4C8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05025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50E80-8211-4F9F-889F-A8143D09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0F659A-53E3-4F41-94F6-5A0BD1BD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52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4113A-C665-498D-9615-16137ACD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05025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7E7E9-EE7C-4AD8-93BB-944B893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回款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515DE2-B70B-48CD-8BD7-5F8BDFA3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52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F49C52-7798-45B9-AD3E-8078F15B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05025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506ACC-CA3E-4020-A81E-272E2A4F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融资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A32CAA-0B19-4D27-A8FA-047658ED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52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9050">
            <a:solidFill>
              <a:srgbClr val="0B1F3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F0991F-84B7-4CF4-AEB2-FCFA66AE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05025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2F4501-09A2-4BF8-A127-DC98883E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24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B2FF44-340E-4552-9522-1F146086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每个部门的决定都会改变下一期状态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C16BF1-AF66-487E-A644-5AD9D066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35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销售承诺需要产能和物料支撑，扩产与研发需要资金保障，采购节奏又会影响库存和现金。一项局部最优的决定，可能在数月后转化为延期、积压或资金缺口。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5DE45D-7AD4-4ECB-870E-8ED2139D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5148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91237A-35EA-45E6-B98F-3C528D2A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真正需要回答的三个问题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F197DE-EF3A-476C-B05C-A1D3708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381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当前经营状态是否完整？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计划是否满足资源约束？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调整方案后会发生什么？</a:t>
            </a:r>
          </a:p>
        </p:txBody>
      </p:sp>
    </p:spTree>
    <p:extLst>
      <p:ext uri="{BB962C8B-B14F-4D97-AF65-F5344CB8AC3E}">
        <p14:creationId xmlns:p14="http://schemas.microsoft.com/office/powerpoint/2010/main" val="391651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113D2B-4249-424A-8B1A-D537B3E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 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31590-DF01-4F54-A8CD-DD91610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2B9E339-72B7-47F8-AE11-A29D1C1E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五类经营断点，使跨部门计划难以真正执行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18822-D019-409D-88DF-86F43204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C6C12-5E1F-4F10-95DC-4A87621B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5918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72623-36FA-41C2-9C74-84129A10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591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BA800-11A2-4E9C-9B56-6DE12749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序号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4E182-D102-4BEB-9D95-0DF8815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28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32DCA-18B5-4C13-862D-E55C0363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28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2504F-978A-4D8E-B669-F7115CF5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直接影响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2BA16-1DEA-45F7-BA0D-A7FDC479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294B2-43BB-4577-9D14-9F7C9CEE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8623D-9980-4E69-8A85-529A873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0EBA3-5362-4530-8847-DABE7EFB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0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数据分散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86391-79CF-4301-8E3E-7681D1CA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订单、库存、产能和资金分布在多个系统与表格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BAD30-5757-49F3-9661-B697E97D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计划口径不一致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4013C-7EC2-48F7-A61F-73BA4D0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5112E-C6D1-45D7-9C37-1A56A96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765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3EAA6-1CBD-4709-915F-85F60723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EB3C9-EDE6-42AF-97B8-C2632431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77288-E3CC-4F19-8E70-4042238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86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产销脱节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3B060-FC6A-4C5B-A9D1-603649B9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28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销售承诺未同步校验物料、产能和交付窗口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BB6AE-3C2B-48B4-B858-2CE5B337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延期与加急成本增加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0E75E-5667-4860-9DEC-189120E6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B5179-0466-4962-9987-12F1F4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06D96-D411-4A01-94EF-4242DF99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44C6CF-DD10-4182-8F71-567F72B9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8BE20-E8DE-472B-99A9-C034F14F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资金滞后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C6F300-9153-45FF-825C-363492A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14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经营计划与现金预算、融资到期分别编制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1FE895-239C-4DCE-AF0D-5C41DDCB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扩张计划缺少资金保障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D55C9D-77C4-4FFA-B3D5-AE9A9060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E513A8-A982-49C5-ABC3-59D9FBA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81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F3F11-0BA8-4103-8F48-71FBB022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074140-28AF-4EF7-BBE7-0F49A127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510C6-7338-4E3F-8CF2-26C6115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57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方案单一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55A029-FA50-4C42-93C3-A0AA8651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只形成一套预算，缺少需求波动和供应中断情景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DBEFC8-C44E-4856-8B2A-28894623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00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风险暴露后被动调整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7D8F6C-916F-4C0B-9A76-9D52411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1A4F74-6188-4F7E-8223-A9898671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339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86C268-46DE-44B8-AF4D-A6231C43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B6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268F71-B451-4CBF-9F41-60F7EFA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154A7A-6025-42E7-9CA2-97E8ED48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复盘困难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68E60C-A0C6-4A04-9AEF-6235A2EA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863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建议缺少数据来源、计算过程和版本记录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6CC37D-6D4A-41AE-A320-EE2FC00A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E4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45B66"/>
                </a:solidFill>
                <a:latin typeface="Microsoft YaHei"/>
                <a:ea typeface="Microsoft YaHei"/>
                <a:cs typeface="Microsoft YaHei"/>
              </a:rPr>
              <a:t>责任边界与改进依据不清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148C10-B403-467D-90DD-7680C55C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591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A31175-7B8F-4517-ADD9-1E72E79F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产品目标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255757-06BB-4080-8BCD-F9EE6DCE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912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把跨部门经营计划还原为可计算、可比较、可追溯的决策证据。</a:t>
            </a:r>
          </a:p>
        </p:txBody>
      </p:sp>
    </p:spTree>
    <p:extLst>
      <p:ext uri="{BB962C8B-B14F-4D97-AF65-F5344CB8AC3E}">
        <p14:creationId xmlns:p14="http://schemas.microsoft.com/office/powerpoint/2010/main" val="2092221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0CDC2C-9658-4ACB-8582-07E37E56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 产品方案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DE6D4-1302-40AB-84A6-B60A814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88FA0BBE-B049-4C0F-8F6A-21962D8F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六步经营闭环，把数据接入、方案推演和人工确认/提交连在一起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8E27F-D7D3-409F-994A-4F85C7B8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4B253-AC60-48CE-8A13-3DB0F1DC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3524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B30ED-58DD-4EC0-8A0B-9D06CF4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52197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93B0A-3648-4DA3-B4EB-715D13ED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57350"/>
            <a:ext cx="13906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86E73-FF0F-4E51-B974-7F9F67D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输入与校验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56A5D-432D-467A-9C6C-FF9A2313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43075"/>
            <a:ext cx="521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FA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AF87"/>
                </a:solidFill>
                <a:latin typeface="Microsoft YaHei"/>
                <a:ea typeface="Microsoft YaHei"/>
                <a:cs typeface="Microsoft YaHei"/>
              </a:rPr>
              <a:t>计算与推演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861B9-69FF-402B-A872-76D299D7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430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FE279-FE12-4F2A-9DA0-BF045496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527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4B7B8-BCD3-4B11-BD2B-619E62AB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D9358-20D5-49B8-8094-AFABD2F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7527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C6397-B61C-42CF-A47B-5DD1797F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876B2-FDF6-467F-88D8-F8E76B0C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527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766E6-4221-400F-97C1-4012EB3B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68E3D-92EF-455D-B294-05A1F429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527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A79FD-1E28-4329-ACA4-C1FCC473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557E2-EAAD-4511-AB90-2733A91E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527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B2B4D-4F2A-412D-965F-3DCA0DBE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0AAF1-F0F0-4DFC-BE23-84E22233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390650" cy="15811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E5E81-6CAE-42FC-82E1-5C8A981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14F21-C680-49DD-AB4C-2374D913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DAFBC-F4B7-4C12-86CA-FF974E2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37698-5327-418C-95E8-0210C3EE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导入订单、库存、BOM、产能和资金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A0642-62EB-438A-952F-8F669DB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71700"/>
            <a:ext cx="1390650" cy="15811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A8EBB-AD03-4387-AC2C-40372F6B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33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075E4-8C46-4D9A-ABB8-15928589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419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5579D9-CCEF-4BD4-95C9-9A34EC44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813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口径治理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769EF-9734-46F8-823F-74F5043D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004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核对来源、时间、单位和业务规则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7B2C8D-C629-4925-A7CB-FB8DEC2C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1390650" cy="15811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52DD02-212E-4FB5-B299-F58D7845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33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466E0B-6166-46B2-8E40-339E3883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0A4CF1-347A-43E2-BC13-CB201A4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状态重建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0FEF70-12F6-4CA5-B0D5-4E096704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统一计算库存、产能、现金和承诺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2D243D-FAC2-4A3F-B4FD-E0C4136B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71700"/>
            <a:ext cx="1390650" cy="15811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E7CF4D-B6F3-40B9-A9E2-BFEFC53E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33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C35DC-B9E7-4B24-A818-E34AAB44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19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C94108-692C-471A-8032-C29FA0EA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813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CE36BF-9EE9-4991-B9EA-36CA82D8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004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形成稳健、平衡和增长计划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B66A4D-9A75-4995-BEEF-104301C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1390650" cy="15811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D45786-71DE-4FFB-A1AF-F579E3F6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C0D8D2-7B58-40F3-9162-5700E8A7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800F4E-440C-46D7-9E88-26427BC8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06A2FC-54AD-4796-A223-216B88BF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检查约束，比较收益、占用与风险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7561C7-2FAB-467D-980B-A9906AD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171700"/>
            <a:ext cx="1390650" cy="15811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9525">
            <a:solidFill>
              <a:srgbClr val="0B1F3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3974D1-F995-444C-B1B6-0FC89D61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333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7F6A09-E262-44DB-BA33-54C4A2B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419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0714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42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FB615C-862D-49AD-8DF0-12402843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7813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人工确认/提交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679EC3-CC0A-4C5D-8302-801B88CF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2004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C6D5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5E5"/>
                </a:solidFill>
                <a:latin typeface="Microsoft YaHei"/>
                <a:ea typeface="Microsoft YaHei"/>
                <a:cs typeface="Microsoft YaHei"/>
              </a:rPr>
              <a:t>展示推荐、备选方案和风险依据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AF4EA1-55AB-4716-A601-B95BE83D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3917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58C891-2004-4620-8F4C-DCB0409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A02FD0-7F08-423B-BBB5-94DE0CD4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EFCA46-BA16-4540-A927-4CC14382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推荐计划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FF0566-B2BD-4DD3-9AA7-DD36EABC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72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给出当前目标与约束下的经营组合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328062-29F2-4E1A-8DBD-73E5DFE7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196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F8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E781F6-9C2B-4AB7-9E45-A3E9900C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29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备选情景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5453F4-1815-4741-8067-2B88AEE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72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保留需求变化或供应扰动下的选择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98CE0C-90C1-4801-BFB9-7C25D186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DC4196-ABBB-42AE-889A-B6F3AA3C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风险清单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DD2CF3-5411-4464-A73A-2331A289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72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明确现金、产能、库存和履约边界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94BD2A-7A2A-426C-985B-C30A1815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3917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F62A64-D4FF-441A-AF05-F28B31B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审批后的计划与实际执行结果写回经营内核，成为下一周期滚动规划的起点。</a:t>
            </a:r>
          </a:p>
        </p:txBody>
      </p:sp>
    </p:spTree>
    <p:extLst>
      <p:ext uri="{BB962C8B-B14F-4D97-AF65-F5344CB8AC3E}">
        <p14:creationId xmlns:p14="http://schemas.microsoft.com/office/powerpoint/2010/main" val="227001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C469C-2AD0-424E-8A4B-1508A858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03 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C0BE0-3B3B-456C-90D6-F7499FB3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90A6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0A6C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F3D1E13F-DA18-49E1-A908-42FFBC3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确定性经营内核负责计算真值，Agent 负责编排方案与解释结果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73BC1-9D5F-48C6-B35D-420D7EA0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2A27C-6973-4CA0-B31B-E2456E3F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42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CCB3C-49D3-40F9-BAAA-2126375B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业务数据层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FBE8D-4F1C-4B8F-892B-DA8E0EAA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ERP、CRM、MES、WMS、财务系统与表格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96925-431A-4A48-9440-BF7D5CAD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050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接入订单、BOM、库存、产能、采购、资金和历史事件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7FFEB-4433-40EE-A0EA-4D8E876D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38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6DF30-26BE-4CCF-9403-26A67570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A2C67-2C95-48FA-BBFF-C8D80144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3A5F"/>
          </a:solidFill>
          <a:ln xmlns:a="http://schemas.openxmlformats.org/drawingml/2006/main" w="9525">
            <a:solidFill>
              <a:srgbClr val="22C9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B3E1D-D6A5-493A-9B11-F285BF4D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经营模型层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A82CB-EAAC-436E-83A7-BFE0A116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908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业务规则、标准事件和企业状态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B3F1D-8EBB-458B-A379-DBDBC262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861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统一维护订单承诺、库存、产能、应收、融资和财务结果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1FE96-E030-4DD6-86EC-07F2541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38525"/>
            <a:ext cx="38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FBCE5-3D02-46BC-A083-CBD30972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D014E-C239-47C9-935D-E094A31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42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894B7-308F-4C68-8655-4E6C65DB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推演决策层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148EE-2212-4B2D-987B-51584A51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71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指标计算、候选生成和滚动情景推演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B5D50-7F24-441C-BEFE-E2B5335F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67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检查资源约束，比较现金、履约、利润与经营风险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62CAD-FBFC-47A6-91DB-871F0A32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19600"/>
            <a:ext cx="38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85276-6041-4016-BFC8-DF373E94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6CA59-1691-40B3-BEDC-725FCF0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733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42"/>
          </a:solidFill>
          <a:ln xmlns:a="http://schemas.openxmlformats.org/drawingml/2006/main" w="9525">
            <a:solidFill>
              <a:srgbClr val="27476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4EF82-0D36-4645-A889-5E2987D2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协同应用层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C0F8C-3A25-4D79-81A3-E293254B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529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方案比较、人工确认/提交和执行反馈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B7F379-9AD8-4F64-B4CD-C3575D74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48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保留推荐理由、方案版本、计算依据和实际执行结果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267C8-F140-4313-83A3-7905F72A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647950" cy="32194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0E2945"/>
          </a:solidFill>
          <a:ln xmlns:a="http://schemas.openxmlformats.org/drawingml/2006/main" w="14288">
            <a:solidFill>
              <a:srgbClr val="22C9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2896C4-05D6-4917-8CE7-C3A5917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我方决策智能体交互与解释层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708DE-2DE6-40E1-A365-A53A9791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管理目标转计划草稿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业务规则检索与解释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方案差异与风险说明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43C2D-E171-4451-8EEA-EB908AA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386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9D9F95-F2F1-490D-8FEF-FE4BB681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76725"/>
            <a:ext cx="2038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B6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6C7D9"/>
                </a:solidFill>
                <a:latin typeface="Microsoft YaHei"/>
                <a:ea typeface="Microsoft YaHei"/>
                <a:cs typeface="Microsoft YaHei"/>
              </a:rPr>
              <a:t>不负责财务真值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B6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6C7D9"/>
                </a:solidFill>
                <a:latin typeface="Microsoft YaHei"/>
                <a:ea typeface="Microsoft YaHei"/>
                <a:cs typeface="Microsoft YaHei"/>
              </a:rPr>
              <a:t>不负责动作合法性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B6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6C7D9"/>
                </a:solidFill>
                <a:latin typeface="Microsoft YaHei"/>
                <a:ea typeface="Microsoft YaHei"/>
                <a:cs typeface="Microsoft YaHei"/>
              </a:rPr>
              <a:t>不绕过人工确认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09D95-86FC-4F9C-ACAF-8F96E2EB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模拟器、我方 Agent 和评估器通过标准接口解耦；模拟器独立负责财务真值</a:t>
            </a:r>
          </a:p>
        </p:txBody>
      </p:sp>
    </p:spTree>
    <p:extLst>
      <p:ext uri="{BB962C8B-B14F-4D97-AF65-F5344CB8AC3E}">
        <p14:creationId xmlns:p14="http://schemas.microsoft.com/office/powerpoint/2010/main" val="783017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4FEAB-14DB-4177-958E-6666F34C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 核心创新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42436-A924-43D2-8388-C61F0366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96E7514-B58F-4763-9634-FB310BC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五项工程设计，让人机建议可以解释、验证和复盘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76833-8336-45D0-AA93-8C9656A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34517-1B40-4719-B1EB-82370456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E781A-88E5-49A6-8FA4-15C0BCBE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8F195-B4CF-40B2-B491-53FD548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可信职责分离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8D9DA-C10C-41CB-8A1C-3F9E7FFE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Agent 负责组织方案与解释结果；确定性内核负责经营计算与约束校验。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BEB0E-B3D7-4240-B0D5-5E3AECD7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49C7E-4F5E-4068-8BFA-258DA515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098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AA0A3-43B8-4BB2-A644-8F05B23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00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五类来源标签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223DC-9F65-47D3-B15D-626ADB80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384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将数据标记为已观察、已计算、估计、模拟或缺失，避免把假设包装成事实。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D467E-5E77-4FC1-8981-4CEFCAB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0ABDB-D5F0-43A8-9257-5A85B7F4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5B22A-C42D-4176-BF2F-97D6CD03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同核复盘与反事实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4219F-9ADA-4831-A662-8BD6B9D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384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历史复盘和未来推演共用经营内核，方案差异不会来自两套计算口径。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062C6-FC61-4B16-A36F-5D020CD6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9575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7FCC7-D956-4BA6-9A04-091942C3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95800"/>
            <a:ext cx="3676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0E984-50C6-4797-8A90-904C7773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863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滚动规划而非固定预算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B8A40-577E-450A-B450-9D54AD0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24450"/>
            <a:ext cx="3676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每个经营周期根据最新状态和执行反馈重新生成方案。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5D913-DC37-4E19-B1C7-24903A6E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E1181-8A0F-440A-86B9-8787394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3676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C6652-F945-4876-AA95-5BD14298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863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人机协同决策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669F0-9C87-46AC-8735-14C12DA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24450"/>
            <a:ext cx="3676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系统提供方案与证据，管理者保留目标设定、例外判断和最终审批权。</a:t>
            </a:r>
          </a:p>
        </p:txBody>
      </p:sp>
    </p:spTree>
    <p:extLst>
      <p:ext uri="{BB962C8B-B14F-4D97-AF65-F5344CB8AC3E}">
        <p14:creationId xmlns:p14="http://schemas.microsoft.com/office/powerpoint/2010/main" val="1878728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16A756-D8D3-4309-A47C-FCDE3B47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 应用与验证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2D64E-DEA0-4147-9BC3-46D22E98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0876AD8-538B-4A98-A288-63B5770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Demo 场景：部分可观测条件下的人机协同季度决策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13AF0-D38B-4888-9770-1B6D14DC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1B237-368F-4ABE-887D-84D357CB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只服务我方一家企业；输入本企业私有状态、公开订单和规则通知，输出带理由的候选动作与风险复盘。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6E7C5-55BD-4CE2-8871-E7FFCFF9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82A07-C957-4D2B-A6EF-E1F00F98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F5C74-F88C-489D-8669-AC359F53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812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订单优先级、交期与价格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5C569-E68B-4A1C-81C6-A5E3778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BB2DB-333E-4A7D-96BA-3147B86B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4428D-FDBA-4CFD-8D96-56B6305C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18805-D43D-441B-B3E6-5F51A8CE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供应链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DE5E9-BA3B-4531-9AAA-D3A30A1B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622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物料库存、到货周期与采购价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C8A6C-1485-4108-88A5-BD5EBF65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146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9ADDB-A315-48C6-A463-C0E9EFE6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BF3C8-EE06-4338-9BA2-88E38EDD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E3EA1-00BE-42CC-8FE6-99ED54AE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54A7A-B711-4F06-B220-06DDEC79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产线能力、切换成本与在制品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364A9-81D8-48EC-9622-906844C3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957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6E932-F1F3-4B3D-A458-350A7FF0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2549A-3D5C-4462-8016-B3306A4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95F2D-6C20-4823-BC54-17742777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67811-4EE4-4F74-A9A4-F9BE4D2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现金预算、融资到期与风险限额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88EBB-B107-49E1-BFF5-8CC21C85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0381E-3DE7-49BC-A94E-07A8270A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C352D-AB32-4605-A602-EE5BAFE5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38350"/>
            <a:ext cx="306705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F7A67-21C7-4FB1-9DE0-0FF668BD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六专业 Agent 联合建议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3BF5D-BD59-45B8-9718-7CC5B35C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05125"/>
            <a:ext cx="2228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统一经营快照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资源与资金约束校验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多方案滚动推演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风险与差异解释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C9518-9E6E-4CA9-BF21-89C9CC1F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2437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最终动作由人工确认，环境独立结算获单、违约和破产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B80905-823C-49EC-81ED-9F66781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FD7ED-E913-4240-91CF-5E4B7D30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5F77E3-A7B8-4252-9D49-05AF7072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371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3BE9A-0EB7-4205-82A1-9EFFE7D5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193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F8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5F64E-5B7F-418D-9CA5-296EFAE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稳健计划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FF8598-FD37-46B9-8897-EDAEE7B5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优先保证现金与重点订单交付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B1664-61B9-4894-971F-18839AAE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623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1C96EA-30CE-4D37-8B55-1C752E3B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8F8C50-C340-429A-BDD1-26BE073E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38475"/>
            <a:ext cx="3371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BAF285-6737-419A-A57E-1714C00F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181A4C-051E-4F21-B821-2E8EEFF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平衡计划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E02BD8-F323-4312-B8CC-8BEAC1D5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670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3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兼顾利润、产能利用和库存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134221-3AB8-4336-9F39-83B5360F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434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BF7891-CD7F-41C6-BDDF-B0FEACD3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037AC7-377B-4646-A018-456549C2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3371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68C7CF-C9DC-426B-8E0D-BA3FD671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814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15D75F-0BC0-4D3A-BD8F-979A48F2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148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增长计划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30020A-9ADD-474F-852B-365D626D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481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3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评估扩产、研发和融资组合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4B05E5-B8C7-4553-A807-20E7A359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72075"/>
            <a:ext cx="3371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82466A-F800-46DE-ADEF-B13A432A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625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2002D5-133F-4A78-AFD0-609F4F6B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340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方案依据、风险与审批记录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71D118-6B03-4897-B3D4-9F842D04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591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E6722E-CF91-4B61-9ABC-C42446A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86475"/>
            <a:ext cx="1021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方案获批后进入执行；实际订单、到货、生产和回款结果会回流，驱动下一周期重新规划。</a:t>
            </a:r>
          </a:p>
        </p:txBody>
      </p:sp>
    </p:spTree>
    <p:extLst>
      <p:ext uri="{BB962C8B-B14F-4D97-AF65-F5344CB8AC3E}">
        <p14:creationId xmlns:p14="http://schemas.microsoft.com/office/powerpoint/2010/main" val="2134641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D0D08-B420-4DD3-87DA-0033C747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 应用与验证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BA723-DD02-4E63-8330-DB0EBDA0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0234C717-877F-4AC9-9638-D5156098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当前 Demo 已覆盖规则生成、双阶段决策和独立结算，真实接入仍需授权试点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BB919-6DCA-4EDA-BDD1-01738401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D215F-3563-4944-8D03-A7B15759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17258-E56A-4975-B874-5656F9A9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F6344-7C91-4F01-911B-9A6F6805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771A7-9DED-4ED4-A7E5-4D6A0357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多源数据处理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7056B-DE2F-4A91-AC4B-A6ABF847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支持 XLS、XLSX、DOCX、CSV、SQLite 和 JSONL 等数据形态，能够形成标准化事件与经营字段。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925E6-3239-41E4-BEA2-447FD053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FA25B-728C-4E1C-B310-F73368E9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DC201-8942-451B-B43D-D006734B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43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A3321-372F-4DC1-A786-CA0ABB02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确定性状态机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92FA3-21F7-45C9-BAD7-65731D5B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覆盖订单、采购、BOM 消耗、生产、库存、应收、融资、折旧、税费和财务报表等状态变化。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C970F-8F63-4CDA-AE83-A43FA1BA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61E32-3213-4BBC-9F2B-39D069AE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AF8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31AC7-CB43-416B-870D-0A44BDC9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7C42B-4C5C-4848-A9DB-7628B73F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滚动方案推演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D074D-7C4A-40D6-8972-B2D025A3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能够生成经营候选，检查现金、产能、交期和履约约束，并记录动作、状态、反馈和结果。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BB324-1986-48F2-8800-579299A1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6572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484FE-7B14-46C3-AE30-CA3EE135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验证方式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9F246-5921-49A1-8D9D-B221BEB4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598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使用标准化样本、合成数据、历史状态回放和自动化测试，检查状态连续性、会计平衡、约束执行与结果可复现性。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5FA11-7138-48C8-8DD1-16B1687E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57700"/>
            <a:ext cx="3733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168E6-39AB-4EE9-AF2E-B4704BE9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2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A43A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87596-82EC-4789-95EE-71511881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244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r>
              <a:t>尚未完成真实企业系统接入、行业参数校准与生产验证，当前定位为可运行的模拟决策原型；内部三个订单随机样本达到历史基准的相近数量级，不能表述为官方裁判精确复刻。</a:t>
            </a:r>
          </a:p>
        </p:txBody>
      </p:sp>
    </p:spTree>
    <p:extLst>
      <p:ext uri="{BB962C8B-B14F-4D97-AF65-F5344CB8AC3E}">
        <p14:creationId xmlns:p14="http://schemas.microsoft.com/office/powerpoint/2010/main" val="5778241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FE17E5-2897-417F-A78E-49092211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05 企业应用价值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FC055-C8BF-4FC4-A035-D3BA88EB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395DC6B-A852-4217-AFCD-D27734A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系统不替代管理判断，而是为跨部门决策提供共同计算底座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96724-E0D1-4E57-A12E-AD6469B7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CC5C5-2E12-4847-8A62-3B587C0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企业可以在计划执行前看清资源占用、资金压力和履约风险，并保留方案形成与审批过程。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26945-1BE3-43F7-9106-C747F97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9532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8AC2B-887A-449C-93EA-E573138D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953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EC41D-C71F-417B-B84E-4257856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经营管理任务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40D87-CF49-4059-8A2B-B4A966A0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系统处理方式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C5AE7-1ADE-44E3-84BC-97E66BDA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95525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可支持的经营判断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8F502-46A4-4401-9C69-4D247A3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693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308FF-AEF2-4402-82DE-7FE6959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订单组合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B861F-2AF3-4E3D-8CBC-F9F776A8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0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核对利润、交期与资源约束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FF306-6808-4A69-9034-E76155C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选择与企业能力匹配的订单承诺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0A8F0-2E90-491C-8C90-D913729E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B3084-7B44-4FB9-A703-ECED85B1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81350"/>
            <a:ext cx="693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2725E-FCC9-4D2D-B090-9FF7063E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产销协同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562DD-50E6-4C86-86CE-729319C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52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联动需求、物料、库存与产能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91B5B-E432-4F40-8D7D-E9762F8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匹配采购节奏、排产能力和交期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A2228-5057-42C6-80F0-A01A1839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F017F-9BF8-4279-8D2C-B53810D8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33800"/>
            <a:ext cx="693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D9770-98B3-4686-B98B-D16DA08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投资规划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E8231-E02B-4F42-A683-2BD0D30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比较研发、扩产和能力建设方案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F4EC7-D1AD-41BF-877B-7B7AB2E3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385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权衡短期收益与长期能力投入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3ED63-AFB0-4D49-BAA6-FE597598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7FFE6-6283-4D98-B225-F3892EB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86250"/>
            <a:ext cx="693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57444-EA1C-4134-A6F4-DCB96DF0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资金预算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3A242-C201-4A81-B8A9-CB97DB68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推演现金、应收、融资与偿债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67111-77B6-4C38-BEBF-66F677A0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9102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识别扩张计划的现金安全边界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4220A-2D76-4C08-A731-88567E3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D56C42-26D3-464D-918A-4736AAD3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38700"/>
            <a:ext cx="693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555360-A245-43D7-A03D-639D0D6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履约管理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41F9E-8DFD-448E-B563-549CA228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跟踪订单承诺、生产和交付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B9598-2BE3-42FD-A036-FE4D2508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434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提前暴露延期、积压和违约风险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DE02E0-5BFF-4B5F-B99E-829E6251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3718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79CE4C-1010-49E6-B419-3A42E0EA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对企业的直接价值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69AAE-4014-4A0E-8222-EA625040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01362C-A2F2-4E89-99F4-4997110C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1942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838B44-BE40-488B-B289-A6EEF6EF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241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方案预演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041FFB-8D39-432F-946E-E474A738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90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比较经营组合的收益、资源占用与风险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86EACE-060D-4BF5-A716-0A4318D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13CAAD-9F6F-4A9A-9603-155C59BF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997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06ED90-8D6D-484B-AF66-B8FBB07D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147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协同决策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BD850C-594C-4730-B2F6-44718FB9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814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让销售、生产、供应链和财务使用同一口径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C8A103-EC9C-45CE-A392-41BFD656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33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342F5F-531C-4940-A365-CE52468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0052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9AAAF9-883C-482A-BBDC-0FA922EC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052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风险前置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427BC1-7DD8-488A-806E-86097598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719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提前暴露资金、产能、库存和交付约束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82A16B-90D0-4A4B-8ADE-274E36B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2423AD-5469-484E-9E15-8A1A859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9107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1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A5522D-A9F4-4D5B-9B61-DA2B4FE8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958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决策复盘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F52FD9-E9C3-4D40-91E3-99A60AFD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625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1D4"/>
                </a:solidFill>
                <a:latin typeface="Microsoft YaHei"/>
                <a:ea typeface="Microsoft YaHei"/>
                <a:cs typeface="Microsoft YaHei"/>
              </a:rPr>
              <a:t>保留数据、计算、方案版本与审批记录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0FC9AF-B66E-400D-ACEE-EDF3EA14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91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8B0BDA-998F-4532-B239-E0B47299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578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2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A43A"/>
                </a:solidFill>
                <a:latin typeface="Microsoft YaHei"/>
                <a:ea typeface="Microsoft YaHei"/>
                <a:cs typeface="Microsoft YaHei"/>
              </a:rPr>
              <a:t>应用原则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1AF510-2139-42ED-A94F-F97191E0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388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系统输出用于支持经营评审，目标设定、例外处理与最终责任仍由企业管理者承担。</a:t>
            </a:r>
          </a:p>
        </p:txBody>
      </p:sp>
    </p:spTree>
    <p:extLst>
      <p:ext uri="{BB962C8B-B14F-4D97-AF65-F5344CB8AC3E}">
        <p14:creationId xmlns:p14="http://schemas.microsoft.com/office/powerpoint/2010/main" val="857684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497067-61CF-4C8A-9C1F-918D1624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06 推进与优化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CFEF6-D358-47EC-A5B2-50EAA3F8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9AF04E1E-FD78-4CA9-B655-D708C413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企业落地采用小范围试点、历史校准与分阶段集成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87C1F-D654-4C82-8458-FD1AB31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05B3E-92D9-43CB-8C3E-E05B426A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先选择数据基础较好的业务单元建立经营数字沙盘，再逐步扩大数据范围和决策边界。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C926B-E58E-4552-A6E2-8D2E079C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0515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81C32-794E-40C2-A785-94E1F4CE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11BEE-238B-43F4-B943-C2CE5FF2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0515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8B4C5-F618-400B-92FC-9376CDFE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DDBBE-950F-45C7-81E1-C4A67DA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0CA03-7054-4A98-A62E-93CAB23D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DAD7D-1138-4134-9987-BF544A0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228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EE0F6-D5CC-4154-B15B-68F16EFE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C110F-BE28-4326-8478-A46AA43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B65F2-848B-49B9-A520-175222F1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业务范围定义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41AC0-2311-4D7E-890B-68F22F3C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选择产品线或事业部，明确计划周期、决策目标、数据边界和责任人。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B6C6A-53C5-4261-8250-1F565F57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228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93822-7818-43E0-B5ED-83E256C4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0C261-7CD6-4861-A493-1092BDB2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FC976-C438-46A0-A90B-F51B102B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数据与规则接入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AC6E4-52AE-4E9A-9E37-CEEEFFF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连接订单、库存、生产和财务数据，配置企业审批与经营约束。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9BFE2-593F-4DC4-BBF1-8A16039A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2228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875AD-59CD-4DA7-ACB9-997157CC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AF8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18F28-2B1C-4254-913D-778D10E3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E4C6A-D8CB-4CB5-9EBD-1E32D20E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历史回放校准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74E28-3D1E-4F0F-9FC3-0453FE63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使用历史计划和实际结果核对状态、参数、指标与风险阈值。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B5729-84DD-4382-B276-C0536E83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33600"/>
            <a:ext cx="2228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9525">
            <a:solidFill>
              <a:srgbClr val="0B1F3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33FB4-68CC-4558-895D-465DE726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093AA-7B09-47EB-B7D7-40782BF8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77C07-D1FC-4378-8D62-46AE5D7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协同决策试点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E4D7D-4B95-4997-8C3F-59D7255F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184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2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2D3E4"/>
                </a:solidFill>
                <a:latin typeface="Microsoft YaHei"/>
                <a:ea typeface="Microsoft YaHei"/>
                <a:cs typeface="Microsoft YaHei"/>
              </a:rPr>
              <a:t>在经营例会中提供滚动方案和风险提示，由管理者确认后执行。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ADE8A7-AEF2-44AB-A1B2-20599C79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91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9431FA-321D-421F-BD14-5F764B0A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持续优化重点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23FC9-15AF-4CA7-A255-B440BA33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D4478-FA35-4517-94A5-D8715D97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72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C6638E-0BD5-48CC-8EC0-EA9505B5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673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记录来源、时间和口径，处理缺失与异常。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78D6AE-300C-4DE6-87A8-82A37A67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8E1599-B9FF-4E9C-B38D-D582B46B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72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算法约束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A7651F-0813-4E58-ABD4-196E537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2673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强化现金安全、风险偏好和多目标权衡。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7D53A6-31A3-4D9B-AFCC-C3B4D8FC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29CFCA-ADB4-40A1-B8A3-83F58CC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72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系统集成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B960E7-8201-4C9D-BF57-53EEE3F5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673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提供标准接口，接入现有经营管理系统。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A422F7-687D-4EE4-884D-FC6451E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62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00707F-8B11-47E7-B7CA-7873A12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72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评估机制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1C3859-925F-4ACB-AD22-C2A61396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673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建立历史回放、人工评审和试点验收标准。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349F6F-A5A9-4EFD-8E58-2C18EBDE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591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2DFD3D-611E-4AF3-BBCD-59D63FE6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1021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生产环境应用必须以数据授权、规则校准、权限控制和管理者确认作为前提。</a:t>
            </a:r>
          </a:p>
        </p:txBody>
      </p:sp>
    </p:spTree>
    <p:extLst>
      <p:ext uri="{BB962C8B-B14F-4D97-AF65-F5344CB8AC3E}">
        <p14:creationId xmlns:p14="http://schemas.microsoft.com/office/powerpoint/2010/main" val="982831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B3DF6-CAE1-46FF-A4E3-D43670E9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07 团队与开源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F7999-71F3-4197-8580-A387688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EFD5C00F-76B3-43CD-8885-F2574140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三人分别负责产品架构、决策算法和数据质量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38EB2-8721-4274-8B29-96F40CA5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2D3EF-E176-4318-A983-FBE66A37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5918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7E258-BB3F-424D-B72F-BAFD6175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591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878A3-72E6-46B8-806B-CFF1F36A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CA1C6-186C-4443-842B-21E3022B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28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F4E9C-03B6-4033-A869-49461AE8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28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主要职责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62FF1-DB19-4A4E-867E-8217ADC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28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核心交付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D3B3B-5CD4-4E57-A01E-359B26E3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57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9334B-EFA1-409C-B97E-360DEEE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叶航飞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51542-8C8D-475C-A6C0-F44BF8CF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38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项目负责人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产品与系统架构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FCD9D-A840-45FA-8683-373F25F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定义产品需求与迭代路线，设计整体架构，负责模块集成、材料提交和现场答辩。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A195F-3D47-4915-985A-287C5EBC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产品方案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系统集成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31F5C-7669-4435-BB68-6ABFA7A0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56630-EFB8-4804-B201-E6E29B9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1057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C7493-242E-4C0A-A6D7-AF713BCD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刘子豪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12991-C3B6-43A0-9EE2-45A8B711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052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算法负责人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经营决策引擎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96A27-54C2-49F2-A46E-5E88BC4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480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实现经营规则引擎、状态机、候选方案生成与滚动规划，设计验证方案并分析策略表现。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F6BC2-20D4-48E9-897B-F172EBE2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决策引擎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验证分析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F655A-4C14-46C8-BA7E-699B10B7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FB5B8-220C-496B-B899-9A4F0A97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24350"/>
            <a:ext cx="1057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110B44-8874-42AD-BD43-B5C0F710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陈一敬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CB858-6946-4171-869A-078C0FB3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72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数据负责人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质量与开源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16DAC-72EE-4567-915D-C68F8C74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148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负责企业数据模型、来源标记、业务规则维护和历史回放测试，完善文档与协作规范。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A38C8C-21A8-4214-A7B4-81AA34F1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91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A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AF87"/>
                </a:solidFill>
                <a:latin typeface="Microsoft YaHei"/>
                <a:ea typeface="Microsoft YaHei"/>
                <a:cs typeface="Microsoft YaHei"/>
              </a:rPr>
              <a:t>数据质量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A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AF87"/>
                </a:solidFill>
                <a:latin typeface="Microsoft YaHei"/>
                <a:ea typeface="Microsoft YaHei"/>
                <a:cs typeface="Microsoft YaHei"/>
              </a:rPr>
              <a:t>开源文档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7449A-5359-4561-8845-D0660786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91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7AE7C-4200-47C3-AEDF-3D302BF5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协作机制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AB11E4-9104-4F05-BF98-46B02F51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483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规则变更先评审，功能提交同时包含实现、测试和文档，最终版本由三人联合验收。</a:t>
            </a:r>
          </a:p>
        </p:txBody>
      </p:sp>
    </p:spTree>
    <p:extLst>
      <p:ext uri="{BB962C8B-B14F-4D97-AF65-F5344CB8AC3E}">
        <p14:creationId xmlns:p14="http://schemas.microsoft.com/office/powerpoint/2010/main" val="644531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2E0E53-DA47-4998-8D12-49B3F1D5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07 团队与开源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57560-1C3F-4A91-ABF6-597F1DD7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84726036-D347-408F-94D3-C984948F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分层开放与脱敏发布分三阶段推进，先做材料，再稳接口，最后按授权开放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2410B-CB22-4296-A7A6-1E2460E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1B212-0292-4260-9F04-059942FB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5918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1B1E7-AABB-4007-B1C8-12E1D33E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591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38E4E-C449-404B-B7E3-FF25FC4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5724B-3FBF-462A-9D67-157A4593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28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建设目标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399AD-1E4F-4F4F-A0C2-EB2EB87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288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2001A-6873-4D34-99F6-A84A6B8A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阶段成果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044D0-3BC0-4624-AA28-7661F4E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57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0B822-7586-467C-8945-BB07A782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A71F7-73BC-4B9A-A919-7F70098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622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治理补齐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19F24-8107-4F6A-A8AC-4939F880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6220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确定发布许可证与脱敏清单，补充贡献指南与问题模板，整理一键运行方式和最小示例数据。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B36E1-5082-4C4B-A74B-E760B6BE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9825"/>
            <a:ext cx="2171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新用户能够按文档完成本地运行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B320C-7DCC-4885-956A-FE0D82CC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2538C-14BB-4890-9CB9-27B5F7A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1057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79652-E749-4C0C-86DF-1DA783B4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5DE06-416C-4760-975D-0D89C8E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290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接口稳定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3CC43-C4B8-49F3-99FB-B6AB2AE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版本化业务规则与数据契约，发布回放基准和验证报告，完善企业系统适配器与插件接口。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C1489-704E-4A4A-9455-408C4022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171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同一输入能够稳定复现推演结果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28976-22F8-416B-B6F7-0FC4BCDD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212EC-9E80-4ED5-A936-808BF2C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24350"/>
            <a:ext cx="1057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88C5B-DDAF-40CE-8EAD-2745E1BB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FA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AF87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F933A-45DE-4305-9212-D6644EDA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958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授权后的接口与样例共建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0821E-CE5D-498A-AB27-8CB2C1EA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9580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38A"/>
                </a:solidFill>
                <a:latin typeface="Microsoft YaHei"/>
                <a:ea typeface="Microsoft YaHei"/>
                <a:cs typeface="Microsoft YaHei"/>
              </a:rPr>
              <a:t>扩展制造业经营规则模板，建立策略与回放基准，支持规则、数据和算法分层贡献。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2AF09-FE40-4D6E-B9D7-DC15FE31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43425"/>
            <a:ext cx="2171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外部贡献可以按模块独立提交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FD8E9-1131-46CF-9DFB-E0773320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91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B94066-8A39-4219-9A10-106ABE2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1567B-4FC0-4348-BAB6-10F60FE8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293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初赛不公开内部规则提取数据、真实企业轨迹和完整源码；另建无旧历史的脱敏发布仓库，必要时只提供编译后的可运行文件。</a:t>
            </a:r>
          </a:p>
        </p:txBody>
      </p:sp>
    </p:spTree>
    <p:extLst>
      <p:ext uri="{BB962C8B-B14F-4D97-AF65-F5344CB8AC3E}">
        <p14:creationId xmlns:p14="http://schemas.microsoft.com/office/powerpoint/2010/main" val="6363262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1B306-3971-4BFF-ADC1-31A4275D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企策智擎决策智能体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E6706-16FB-4D14-A293-B4202ED1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让企业经营计划从“分散表格协商”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走向“统一计算、方案比较与风险复核”。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48FF6-3344-4864-B46A-B44B70A2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9E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31D97-1CBF-4CEA-AC1C-4306262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376E2-624C-4C69-81EF-6B99B24A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状态可信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47817-00A0-45A4-9080-EDE544E0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48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7EAF7-433F-4C3D-941E-2CA13EE8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21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方案可比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358D2-6F22-4D4A-917A-9718D46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48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DB1FC-DBD3-4836-903F-F82351A7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1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风险可见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CF7B5-A623-4379-B7C3-C465232A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48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C9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7D65F-1CD3-4CCE-9483-BD5709DC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1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决策可追溯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674F2-48D9-4C2B-8561-D36E2EEF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04875"/>
            <a:ext cx="2190750" cy="4476750"/>
          </a:xfrm>
          <a:prstGeom xmlns:a="http://schemas.openxmlformats.org/drawingml/2006/main" prst="roundRect">
            <a:avLst>
              <a:gd name="adj" fmla="val 5217"/>
            </a:avLst>
          </a:prstGeom>
          <a:gradFill xmlns:a="http://schemas.openxmlformats.org/drawingml/2006/main">
            <a:gsLst>
              <a:gs pos="0">
                <a:srgbClr val="123252"/>
              </a:gs>
              <a:gs pos="100000">
                <a:srgbClr val="0B1F36"/>
              </a:gs>
            </a:gsLst>
            <a:lin ang="10800000"/>
          </a:gradFill>
          <a:ln xmlns:a="http://schemas.openxmlformats.org/drawingml/2006/main" w="9525">
            <a:solidFill>
              <a:srgbClr val="2B4E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29940-560C-47FF-BB1B-F06DFC41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192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CONTROLLED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A170F-BCF6-4C30-89E6-DE0D8DD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企策智擎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72045-1161-4C2D-B83E-AEC7CF14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初赛发布：作品简介 + 方案 PDF + 脱敏模拟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546FD-45F0-4BF6-BAB8-B05BF3EB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00" b="0">
                <a:solidFill>
                  <a:srgbClr val="8FA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6BE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00" b="0">
                <a:solidFill>
                  <a:srgbClr val="8FA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6BE"/>
                </a:solidFill>
                <a:latin typeface="Microsoft YaHei"/>
                <a:ea typeface="Microsoft YaHei"/>
                <a:cs typeface="Microsoft YaHei"/>
              </a:rPr>
              <a:t>叶航飞 · 刘子豪 · 陈一敬</a:t>
            </a:r>
          </a:p>
        </p:txBody>
      </p:sp>
    </p:spTree>
    <p:extLst>
      <p:ext uri="{BB962C8B-B14F-4D97-AF65-F5344CB8AC3E}">
        <p14:creationId xmlns:p14="http://schemas.microsoft.com/office/powerpoint/2010/main" val="1390302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2026-08-12T08:29:56.8700000Z</dcterms:created>
  <dcterms:modified xsi:type="dcterms:W3CDTF">2026-08-12T08:29:56.8700000Z</dcterms:modified>
</coreProperties>
</file>